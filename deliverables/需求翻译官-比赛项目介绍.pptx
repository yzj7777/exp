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82880" y="3218688"/>
            <a:ext cx="548640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3246120"/>
            <a:ext cx="48463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1717"/>
                </a:solidFill>
                <a:latin typeface="Microsoft YaHei"/>
              </a:rPr>
              <a:t>需求翻译官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794760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65656"/>
                </a:solidFill>
                <a:latin typeface="Microsoft YaHei"/>
              </a:rPr>
              <a:t>openJiuwen 智能体创新大赛 · 创意方案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4160520"/>
            <a:ext cx="57607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683D8"/>
                </a:solidFill>
                <a:latin typeface="Microsoft YaHei"/>
              </a:rPr>
              <a:t>把模糊想法，翻译成可确认、可讨论的需求。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749808"/>
            <a:ext cx="1001268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90000"/>
                </a:solidFill>
                <a:latin typeface="Microsoft YaHei"/>
              </a:rPr>
              <a:t>创意名称：需求翻译官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" y="1417320"/>
            <a:ext cx="10533888" cy="4892040"/>
          </a:xfrm>
          <a:prstGeom prst="roundRect">
            <a:avLst>
              <a:gd name="adj" fmla="val 10000"/>
            </a:avLst>
          </a:prstGeom>
          <a:noFill/>
          <a:ln w="8890">
            <a:solidFill>
              <a:srgbClr val="85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5102352" y="1444752"/>
            <a:ext cx="0" cy="4846320"/>
          </a:xfrm>
          <a:prstGeom prst="line">
            <a:avLst/>
          </a:prstGeom>
          <a:ln w="10160">
            <a:solidFill>
              <a:srgbClr val="B6B6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82296" y="5276088"/>
            <a:ext cx="5020056" cy="0"/>
          </a:xfrm>
          <a:prstGeom prst="line">
            <a:avLst/>
          </a:prstGeom>
          <a:ln w="10160">
            <a:solidFill>
              <a:srgbClr val="B6B6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84048" y="167335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Microsoft YaHei"/>
              </a:rPr>
              <a:t>创意描述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673352"/>
            <a:ext cx="868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0000"/>
                </a:solidFill>
                <a:latin typeface="Microsoft YaHei"/>
              </a:rPr>
              <a:t>（必填）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682496"/>
            <a:ext cx="13258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5656"/>
                </a:solidFill>
                <a:latin typeface="Microsoft YaHei"/>
              </a:rPr>
              <a:t>（500字以内）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148840"/>
            <a:ext cx="4389120" cy="2852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1683D8"/>
                </a:solidFill>
                <a:latin typeface="Microsoft YaHei"/>
              </a:rPr>
              <a:t>需求翻译官是一款面向产品需求沟通的交互式 Agent。它通过少量、循序渐进的问答，帮助需求提出者把模糊想法逐步澄清为结构化需求草稿。Agent 聚焦目标用户、痛点、预期结果、关键流程、范围约束和验收方式；回答含糊时继续追问，暂时无法确定的信息标为待确认。最终由用户核对、修改后再交给产品或研发团队评审。项目坚持“先澄清，再整理；不确定就标注，不替用户做决定”，降低需求误解与反复确认的风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546811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Microsoft YaHei"/>
              </a:rPr>
              <a:t>所属主题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5468112"/>
            <a:ext cx="868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0000"/>
                </a:solidFill>
                <a:latin typeface="Microsoft YaHei"/>
              </a:rPr>
              <a:t>（必填）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33872"/>
            <a:ext cx="1097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1683D8"/>
                </a:solidFill>
                <a:latin typeface="Microsoft YaHei"/>
              </a:rPr>
              <a:t>办公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673352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Microsoft YaHei"/>
              </a:rPr>
              <a:t>应用场景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673352"/>
            <a:ext cx="868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0000"/>
                </a:solidFill>
                <a:latin typeface="Microsoft YaHei"/>
              </a:rPr>
              <a:t>（必填）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331720"/>
            <a:ext cx="4754880" cy="3337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683D8"/>
                </a:solidFill>
                <a:latin typeface="Microsoft YaHei"/>
              </a:rPr>
              <a:t>面向业务部门提出软件功能需求、产品经理整理需求的沟通场景。业务方往往先说“做得更方便”或“加一个审批功能”，却未明确使用者、触发条件、主流程、边界和成功标准。需求翻译官通过交互访谈逐项澄清，形成可复核的需求摘要、功能范围、未决问题与验收草稿。潜在价值是让业务、产品与研发围绕同一份有来源、有状态的需求材料继续协作，避免把 Agent 推测误当成用户已确认的事实。目标用户与实际成效仍需通过真实访谈验证。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7251192"/>
            <a:ext cx="3657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Microsoft YaHei"/>
              </a:rPr>
              <a:t>2</a:t>
            </a:r>
          </a:p>
        </p:txBody>
      </p:sp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7104888"/>
            <a:ext cx="1115568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749808"/>
            <a:ext cx="1001268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90000"/>
                </a:solidFill>
                <a:latin typeface="Microsoft YaHei"/>
              </a:rPr>
              <a:t>创意方案构想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" y="1417320"/>
            <a:ext cx="10533888" cy="4892040"/>
          </a:xfrm>
          <a:prstGeom prst="roundRect">
            <a:avLst>
              <a:gd name="adj" fmla="val 10000"/>
            </a:avLst>
          </a:prstGeom>
          <a:noFill/>
          <a:ln w="8890">
            <a:solidFill>
              <a:srgbClr val="8585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" y="4233672"/>
            <a:ext cx="10506456" cy="0"/>
          </a:xfrm>
          <a:prstGeom prst="line">
            <a:avLst/>
          </a:prstGeom>
          <a:ln w="10160">
            <a:solidFill>
              <a:srgbClr val="B6B6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102352" y="4242816"/>
            <a:ext cx="0" cy="2048256"/>
          </a:xfrm>
          <a:prstGeom prst="line">
            <a:avLst/>
          </a:prstGeom>
          <a:ln w="10160">
            <a:solidFill>
              <a:srgbClr val="B6B6B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02920" y="1664208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Microsoft YaHei"/>
              </a:rPr>
              <a:t>方案详情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64208"/>
            <a:ext cx="8686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0000"/>
                </a:solidFill>
                <a:latin typeface="Microsoft YaHei"/>
              </a:rPr>
              <a:t>（必填）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084831"/>
            <a:ext cx="9601200" cy="19385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1683D8"/>
                </a:solidFill>
                <a:latin typeface="Microsoft YaHei"/>
              </a:rPr>
              <a:t>核心能力：
1. 接收自然语言需求，围绕用户、痛点、目标、流程、范围和验收方式建立需求画像。
2. 优先询问会影响需求理解的关键缺口；每轮少量提问，避免一次性长问卷。
3. 发现笼统回答时追问具体例子；允许跳过，并把未知信息标为“待确认”。
4. 记录回答来源与确认状态，阶段性总结并请用户核对、修改。
5. 生成结构化需求草稿，供需求方确认、产品经理评审后再进入后续流程。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43484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Microsoft YaHei"/>
              </a:rPr>
              <a:t>方案优势（可选）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956048"/>
            <a:ext cx="443484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683D8"/>
                </a:solidFill>
                <a:latin typeface="Microsoft YaHei"/>
              </a:rPr>
              <a:t>与直接扩写一句提示词不同，本方案把“澄清过程”作为核心：问题围绕需求缺口推进；用户事实、待确认项和 Agent 建议分开记录；草稿可追溯、可修订。当前已有可交互规则原型与完整角色模拟案例，但真实用户效果尚待评估。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4434840"/>
            <a:ext cx="2468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71717"/>
                </a:solidFill>
                <a:latin typeface="Microsoft YaHei"/>
              </a:rPr>
              <a:t>技术依赖（可选）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956048"/>
            <a:ext cx="4663440" cy="10789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683D8"/>
                </a:solidFill>
                <a:latin typeface="Microsoft YaHei"/>
              </a:rPr>
              <a:t>当前：原生 HTML/CSS/JavaScript 规则驱动原型，无模型 API、后端或 WorkSwarm 集成。
后续：若入围，计划评估服务端 LLM 接入、结构化会话状态、人工确认与隐私保护；模型服务和预算待定。现有样例测试为手写规则检查，不代表真实效果。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7251192"/>
            <a:ext cx="3657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Microsoft YaHei"/>
              </a:rPr>
              <a:t>3</a:t>
            </a:r>
          </a:p>
        </p:txBody>
      </p:sp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7104888"/>
            <a:ext cx="1115568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749808"/>
            <a:ext cx="10012680" cy="4663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C90000"/>
                </a:solidFill>
                <a:latin typeface="Microsoft YaHei"/>
              </a:rPr>
              <a:t>DEMO 或示意图：一次需求澄清如何发生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298448"/>
            <a:ext cx="9784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65656"/>
                </a:solidFill>
                <a:latin typeface="Microsoft YaHei"/>
              </a:rPr>
              <a:t>示意案例：用户说“想让团队会议协作更高效”——以下是访谈路径设计，模拟回答不代表真实用户调研。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" y="1965960"/>
            <a:ext cx="2139696" cy="3108960"/>
          </a:xfrm>
          <a:prstGeom prst="roundRect">
            <a:avLst>
              <a:gd name="adj" fmla="val 10000"/>
            </a:avLst>
          </a:prstGeom>
          <a:solidFill>
            <a:srgbClr val="FBFBFC"/>
          </a:solidFill>
          <a:ln w="8890">
            <a:solidFill>
              <a:srgbClr val="B8B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167128"/>
            <a:ext cx="182879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0000"/>
                </a:solidFill>
                <a:latin typeface="Microsoft YaHei"/>
              </a:rPr>
              <a:t>01 说出想法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75488" y="2624328"/>
            <a:ext cx="1883663" cy="0"/>
          </a:xfrm>
          <a:prstGeom prst="line">
            <a:avLst/>
          </a:prstGeom>
          <a:ln w="10160">
            <a:solidFill>
              <a:srgbClr val="D6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2907791"/>
            <a:ext cx="1828799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1717"/>
                </a:solidFill>
                <a:latin typeface="Microsoft YaHei"/>
              </a:rPr>
              <a:t>输入：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00400"/>
            <a:ext cx="1828799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683D8"/>
                </a:solidFill>
                <a:latin typeface="Microsoft YaHei"/>
              </a:rPr>
              <a:t>“我想让会议更高效。”
用户不需要先会写 PRD。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42032" y="3520439"/>
            <a:ext cx="329184" cy="0"/>
          </a:xfrm>
          <a:prstGeom prst="line">
            <a:avLst/>
          </a:prstGeom>
          <a:ln w="21590">
            <a:solidFill>
              <a:srgbClr val="76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hevron 9"/>
          <p:cNvSpPr/>
          <p:nvPr/>
        </p:nvSpPr>
        <p:spPr>
          <a:xfrm>
            <a:off x="2798064" y="3401568"/>
            <a:ext cx="155448" cy="246888"/>
          </a:xfrm>
          <a:prstGeom prst="chevron">
            <a:avLst/>
          </a:prstGeom>
          <a:solidFill>
            <a:srgbClr val="76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62656" y="1965960"/>
            <a:ext cx="2139696" cy="3108960"/>
          </a:xfrm>
          <a:prstGeom prst="roundRect">
            <a:avLst>
              <a:gd name="adj" fmla="val 10000"/>
            </a:avLst>
          </a:prstGeom>
          <a:solidFill>
            <a:srgbClr val="FBFBFC"/>
          </a:solidFill>
          <a:ln w="8890">
            <a:solidFill>
              <a:srgbClr val="B8B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4" y="2167128"/>
            <a:ext cx="182879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0000"/>
                </a:solidFill>
                <a:latin typeface="Microsoft YaHei"/>
              </a:rPr>
              <a:t>02 Agent 追问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90672" y="2624328"/>
            <a:ext cx="1883664" cy="0"/>
          </a:xfrm>
          <a:prstGeom prst="line">
            <a:avLst/>
          </a:prstGeom>
          <a:ln w="10160">
            <a:solidFill>
              <a:srgbClr val="D6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118104" y="2907791"/>
            <a:ext cx="1828799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1717"/>
                </a:solidFill>
                <a:latin typeface="Microsoft YaHei"/>
              </a:rPr>
              <a:t>问题：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18104" y="3200400"/>
            <a:ext cx="1828799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683D8"/>
                </a:solidFill>
                <a:latin typeface="Microsoft YaHei"/>
              </a:rPr>
              <a:t>“哪个环节最耗时或最容易遗漏？谁在使用？”
一次聚焦少量关键问题。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57216" y="3520439"/>
            <a:ext cx="329184" cy="0"/>
          </a:xfrm>
          <a:prstGeom prst="line">
            <a:avLst/>
          </a:prstGeom>
          <a:ln w="21590">
            <a:solidFill>
              <a:srgbClr val="76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5413248" y="3401568"/>
            <a:ext cx="155448" cy="246888"/>
          </a:xfrm>
          <a:prstGeom prst="chevron">
            <a:avLst/>
          </a:prstGeom>
          <a:solidFill>
            <a:srgbClr val="76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77840" y="1965960"/>
            <a:ext cx="2139696" cy="3108960"/>
          </a:xfrm>
          <a:prstGeom prst="roundRect">
            <a:avLst>
              <a:gd name="adj" fmla="val 10000"/>
            </a:avLst>
          </a:prstGeom>
          <a:solidFill>
            <a:srgbClr val="FBFBFC"/>
          </a:solidFill>
          <a:ln w="8890">
            <a:solidFill>
              <a:srgbClr val="B8B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33288" y="2167128"/>
            <a:ext cx="182879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0000"/>
                </a:solidFill>
                <a:latin typeface="Microsoft YaHei"/>
              </a:rPr>
              <a:t>03 标记信息状态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05855" y="2624328"/>
            <a:ext cx="1883664" cy="0"/>
          </a:xfrm>
          <a:prstGeom prst="line">
            <a:avLst/>
          </a:prstGeom>
          <a:ln w="10160">
            <a:solidFill>
              <a:srgbClr val="D6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733288" y="2907791"/>
            <a:ext cx="1828799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1717"/>
                </a:solidFill>
                <a:latin typeface="Microsoft YaHei"/>
              </a:rPr>
              <a:t>画像：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33288" y="3200400"/>
            <a:ext cx="1828799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683D8"/>
                </a:solidFill>
                <a:latin typeface="Microsoft YaHei"/>
              </a:rPr>
              <a:t>已记录：会议协作
待确认：具体痛点
建议：举一个最近的例子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0" y="3520439"/>
            <a:ext cx="329184" cy="0"/>
          </a:xfrm>
          <a:prstGeom prst="line">
            <a:avLst/>
          </a:prstGeom>
          <a:ln w="21590">
            <a:solidFill>
              <a:srgbClr val="7664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hevron 23"/>
          <p:cNvSpPr/>
          <p:nvPr/>
        </p:nvSpPr>
        <p:spPr>
          <a:xfrm>
            <a:off x="8028432" y="3401568"/>
            <a:ext cx="155448" cy="246888"/>
          </a:xfrm>
          <a:prstGeom prst="chevron">
            <a:avLst/>
          </a:prstGeom>
          <a:solidFill>
            <a:srgbClr val="7664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93024" y="1965960"/>
            <a:ext cx="2139696" cy="3108960"/>
          </a:xfrm>
          <a:prstGeom prst="roundRect">
            <a:avLst>
              <a:gd name="adj" fmla="val 10000"/>
            </a:avLst>
          </a:prstGeom>
          <a:solidFill>
            <a:srgbClr val="FBFBFC"/>
          </a:solidFill>
          <a:ln w="8890">
            <a:solidFill>
              <a:srgbClr val="B8B8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2167128"/>
            <a:ext cx="1828799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0000"/>
                </a:solidFill>
                <a:latin typeface="Microsoft YaHei"/>
              </a:rPr>
              <a:t>04 生成需求草稿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321040" y="2624328"/>
            <a:ext cx="1883664" cy="0"/>
          </a:xfrm>
          <a:prstGeom prst="line">
            <a:avLst/>
          </a:prstGeom>
          <a:ln w="10160">
            <a:solidFill>
              <a:srgbClr val="D6D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348472" y="2907791"/>
            <a:ext cx="1828799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1717"/>
                </a:solidFill>
                <a:latin typeface="Microsoft YaHei"/>
              </a:rPr>
              <a:t>输出：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2" y="3200400"/>
            <a:ext cx="1828799" cy="1508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1683D8"/>
                </a:solidFill>
                <a:latin typeface="Microsoft YaHei"/>
              </a:rPr>
              <a:t>用户与场景
痛点与目标
主流程与范围
未决项与验收标准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84048" y="5413248"/>
            <a:ext cx="9893808" cy="56692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550408"/>
            <a:ext cx="95097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C682D"/>
                </a:solidFill>
                <a:latin typeface="Microsoft YaHei"/>
              </a:rPr>
              <a:t>当前可操作 Demo：web/showcase.html → 现场输入 → 追问 → 查看并下载 Markdown 草稿。当前网页为规则驱动原型，未调用 LLM API。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7251192"/>
            <a:ext cx="365760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3F3F3F"/>
                </a:solidFill>
                <a:latin typeface="Microsoft YaHei"/>
              </a:rPr>
              <a:t>4</a:t>
            </a:r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7104888"/>
            <a:ext cx="1115568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689336" cy="75620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